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457200"/>
            <a:ext cx="10332720" cy="2286000"/>
          </a:xfrm>
          <a:prstGeom prst="roundRect">
            <a:avLst/>
          </a:prstGeom>
          <a:solidFill>
            <a:srgbClr val="1E497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640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Version Control for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EACC7"/>
                </a:solidFill>
                <a:latin typeface="Calibri"/>
              </a:defRPr>
            </a:pPr>
            <a:r>
              <a:t>How Git + Your Browser = Superpowers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474720"/>
            <a:ext cx="1371600" cy="1371600"/>
          </a:xfrm>
          <a:prstGeom prst="ellipse">
            <a:avLst/>
          </a:prstGeom>
          <a:solidFill>
            <a:srgbClr val="4A90C4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💻</a:t>
            </a:r>
          </a:p>
        </p:txBody>
      </p:sp>
      <p:sp>
        <p:nvSpPr>
          <p:cNvPr id="6" name="Oval 5"/>
          <p:cNvSpPr/>
          <p:nvPr/>
        </p:nvSpPr>
        <p:spPr>
          <a:xfrm>
            <a:off x="3840480" y="3474720"/>
            <a:ext cx="1371600" cy="1371600"/>
          </a:xfrm>
          <a:prstGeom prst="ellipse">
            <a:avLst/>
          </a:prstGeom>
          <a:solidFill>
            <a:srgbClr val="2CA02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7" name="Oval 6"/>
          <p:cNvSpPr/>
          <p:nvPr/>
        </p:nvSpPr>
        <p:spPr>
          <a:xfrm>
            <a:off x="5852160" y="3474720"/>
            <a:ext cx="1371600" cy="1371600"/>
          </a:xfrm>
          <a:prstGeom prst="ellipse">
            <a:avLst/>
          </a:prstGeom>
          <a:solidFill>
            <a:srgbClr val="FF7F0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3474720"/>
            <a:ext cx="1371600" cy="1371600"/>
          </a:xfrm>
          <a:prstGeom prst="ellipse">
            <a:avLst/>
          </a:prstGeom>
          <a:solidFill>
            <a:srgbClr val="9467BD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ACC7"/>
                </a:solidFill>
                <a:latin typeface="Calibri"/>
              </a:defRPr>
            </a:pPr>
            <a:r>
              <a:t>You 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ACC7"/>
                </a:solidFill>
                <a:latin typeface="Calibri"/>
              </a:defRPr>
            </a:pPr>
            <a:r>
              <a:t>Git Tracks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ACC7"/>
                </a:solidFill>
                <a:latin typeface="Calibri"/>
              </a:defRPr>
            </a:pPr>
            <a:r>
              <a:t>Team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ACC7"/>
                </a:solidFill>
                <a:latin typeface="Calibri"/>
              </a:defRPr>
            </a:pPr>
            <a:r>
              <a:t>Approved!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46120" y="3977639"/>
            <a:ext cx="548640" cy="365760"/>
          </a:xfrm>
          <a:prstGeom prst="rightArrow">
            <a:avLst/>
          </a:prstGeom>
          <a:solidFill>
            <a:srgbClr val="8E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257800" y="3977639"/>
            <a:ext cx="548640" cy="365760"/>
          </a:xfrm>
          <a:prstGeom prst="rightArrow">
            <a:avLst/>
          </a:prstGeom>
          <a:solidFill>
            <a:srgbClr val="8E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269480" y="3977639"/>
            <a:ext cx="548640" cy="365760"/>
          </a:xfrm>
          <a:prstGeom prst="rightArrow">
            <a:avLst/>
          </a:prstGeom>
          <a:solidFill>
            <a:srgbClr val="8E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EACC7"/>
                </a:solidFill>
                <a:latin typeface="Calibri"/>
              </a:defRPr>
            </a:pPr>
            <a:r>
              <a:t>Friday Training  |  Bruce Dombrowski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88AA"/>
                </a:solidFill>
                <a:latin typeface="Calibri"/>
              </a:defRPr>
            </a:pPr>
            <a:r>
              <a:t>No CLI required. Just your browser.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😫  The Problem: File Chaos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8B00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Calibri"/>
              </a:defRPr>
            </a:pPr>
            <a:r>
              <a:t>Sound familiar?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📄  budget_FINAL.xlsx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📄  budget_FINAL_v2.xlsx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📄  budget_FINAL_v2_REVISED.xlsx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📄  budget_FINAL_v2_REVISED_FIXED.xlsx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📄  budget_ACTUAL_FINAL_USE_THIS.xlsx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📄  budget_ACTUAL_FINAL_USE_THIS(1).xlsx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📄  Copy of budget_DONT_DELETE.xlsx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029200" cy="4754880"/>
          </a:xfrm>
          <a:prstGeom prst="roundRect">
            <a:avLst/>
          </a:prstGeom>
          <a:solidFill>
            <a:srgbClr val="1E497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Calibri"/>
              </a:defRPr>
            </a:pPr>
            <a:r>
              <a:t>The real questions: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🤔  Which version is current?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🔍  What changed between versions?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👤  Who made this change?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📅  When was it changed?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❓  Why was it changed?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🔒  Can we prove the audit trail?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🤝  Did the team approve this?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🎉  The Solution: Git +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EACC7"/>
                </a:solidFill>
                <a:latin typeface="Calibri"/>
              </a:defRPr>
            </a:pPr>
            <a:r>
              <a:t>Git tracks every change. Your browser shows it. No software to install.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114800"/>
          </a:xfrm>
          <a:prstGeom prst="roundRect">
            <a:avLst/>
          </a:prstGeom>
          <a:solidFill>
            <a:srgbClr val="2CA02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Complete</a:t>
            </a:r>
            <a:br/>
            <a:r>
              <a:t>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Every version saved</a:t>
            </a:r>
            <a:br/>
            <a:r>
              <a:t>automatically.</a:t>
            </a:r>
            <a:br/>
            <a:r>
              <a:t>Nothing lost. Ever.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200400" cy="4114800"/>
          </a:xfrm>
          <a:prstGeom prst="roundRect">
            <a:avLst/>
          </a:prstGeom>
          <a:solidFill>
            <a:srgbClr val="4A90C4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017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See What</a:t>
            </a:r>
            <a:br/>
            <a:r>
              <a:t>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1148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Line-by-line diffs.</a:t>
            </a:r>
            <a:br/>
            <a:r>
              <a:t>Green = added.</a:t>
            </a:r>
            <a:br/>
            <a:r>
              <a:t>Red = removed.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200400" cy="4114800"/>
          </a:xfrm>
          <a:prstGeom prst="roundRect">
            <a:avLst/>
          </a:prstGeom>
          <a:solidFill>
            <a:srgbClr val="FF7F0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Team</a:t>
            </a:r>
            <a:br/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1148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Everyone reviews</a:t>
            </a:r>
            <a:br/>
            <a:r>
              <a:t>before it goes live.</a:t>
            </a:r>
            <a:br/>
            <a:r>
              <a:t>Built-in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🎯  How It Works: 5 Easy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11680" cy="4114800"/>
          </a:xfrm>
          <a:prstGeom prst="roundRect">
            <a:avLst/>
          </a:prstGeom>
          <a:solidFill>
            <a:srgbClr val="2CA02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Edit your file</a:t>
            </a:r>
            <a:br/>
            <a:r>
              <a:t>(Excel, CSV,</a:t>
            </a:r>
            <a:br/>
            <a:r>
              <a:t>whatever)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3474720"/>
            <a:ext cx="320040" cy="320040"/>
          </a:xfrm>
          <a:prstGeom prst="rightArrow">
            <a:avLst/>
          </a:prstGeom>
          <a:solidFill>
            <a:srgbClr val="8E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011680" cy="4114800"/>
          </a:xfrm>
          <a:prstGeom prst="roundRect">
            <a:avLst/>
          </a:prstGeom>
          <a:solidFill>
            <a:srgbClr val="4A90C4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918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Save like</a:t>
            </a:r>
            <a:br/>
            <a:r>
              <a:t>you always do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600" y="3474720"/>
            <a:ext cx="320040" cy="320040"/>
          </a:xfrm>
          <a:prstGeom prst="rightArrow">
            <a:avLst/>
          </a:prstGeom>
          <a:solidFill>
            <a:srgbClr val="8E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011680" cy="4114800"/>
          </a:xfrm>
          <a:prstGeom prst="roundRect">
            <a:avLst/>
          </a:prstGeom>
          <a:solidFill>
            <a:srgbClr val="FF7F0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918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Click 'Commit'</a:t>
            </a:r>
            <a:br/>
            <a:r>
              <a:t>(one click saves</a:t>
            </a:r>
            <a:br/>
            <a:r>
              <a:t>the version)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86600" y="3474720"/>
            <a:ext cx="320040" cy="320040"/>
          </a:xfrm>
          <a:prstGeom prst="rightArrow">
            <a:avLst/>
          </a:prstGeom>
          <a:solidFill>
            <a:srgbClr val="8E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645920"/>
            <a:ext cx="2011680" cy="4114800"/>
          </a:xfrm>
          <a:prstGeom prst="roundRect">
            <a:avLst/>
          </a:prstGeom>
          <a:solidFill>
            <a:srgbClr val="9467BD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918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Team reviews</a:t>
            </a:r>
            <a:br/>
            <a:r>
              <a:t>in their browser</a:t>
            </a:r>
            <a:br/>
            <a:r>
              <a:t>(comments + diffs)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72600" y="3474720"/>
            <a:ext cx="320040" cy="320040"/>
          </a:xfrm>
          <a:prstGeom prst="rightArrow">
            <a:avLst/>
          </a:prstGeom>
          <a:solidFill>
            <a:srgbClr val="8E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0" y="1645920"/>
            <a:ext cx="2011680" cy="4114800"/>
          </a:xfrm>
          <a:prstGeom prst="roundRect">
            <a:avLst/>
          </a:prstGeom>
          <a:solidFill>
            <a:srgbClr val="2CA02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2918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Approved = merged</a:t>
            </a:r>
            <a:br/>
            <a:r>
              <a:t>to the official</a:t>
            </a:r>
            <a:br/>
            <a:r>
              <a:t>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  <a:latin typeface="Calibri"/>
              </a:defRPr>
            </a:pPr>
            <a:r>
              <a:t>💡  The whole team does this in their browser. No command line. No special software.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💻  What You See in Your Browser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4846320"/>
          </a:xfrm>
          <a:prstGeom prst="roundRect">
            <a:avLst/>
          </a:prstGeom>
          <a:solidFill>
            <a:srgbClr val="1E1E2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EACC7"/>
                </a:solidFill>
                <a:latin typeface="Calibri"/>
              </a:defRPr>
            </a:pPr>
            <a:r>
              <a:t>📁  budget.csv  — Changed 3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48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ourier New"/>
              </a:defRPr>
            </a:pPr>
            <a:r>
              <a:t>  Department, Q1 Budget, Q2 Budget,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963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ourier New"/>
              </a:defRPr>
            </a:pPr>
            <a:r>
              <a:t>  Engineering, $150000, $155000, Active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843784"/>
            <a:ext cx="8961120" cy="329184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84378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060"/>
                </a:solidFill>
                <a:latin typeface="Courier New"/>
              </a:defRPr>
            </a:pPr>
            <a:r>
              <a:t>- Marketing,  $80000,  $80000,  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191256"/>
            <a:ext cx="8961120" cy="329184"/>
          </a:xfrm>
          <a:prstGeom prst="rect">
            <a:avLst/>
          </a:prstGeom>
          <a:solidFill>
            <a:srgbClr val="104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19125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FF60"/>
                </a:solidFill>
                <a:latin typeface="Courier New"/>
              </a:defRPr>
            </a:pPr>
            <a:r>
              <a:t>+ Marketing,  $80000,  $95000,  Active    ← budget increased!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3872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ourier New"/>
              </a:defRPr>
            </a:pPr>
            <a:r>
              <a:t>  Operations, $200000, $200000, 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3886200"/>
            <a:ext cx="8961120" cy="329184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886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060"/>
                </a:solidFill>
                <a:latin typeface="Courier New"/>
              </a:defRPr>
            </a:pPr>
            <a:r>
              <a:t>- Sales,      $120000, $120000, Active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233672"/>
            <a:ext cx="8961120" cy="329184"/>
          </a:xfrm>
          <a:prstGeom prst="rect">
            <a:avLst/>
          </a:prstGeom>
          <a:solidFill>
            <a:srgbClr val="104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2336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FF60"/>
                </a:solidFill>
                <a:latin typeface="Courier New"/>
              </a:defRPr>
            </a:pPr>
            <a:r>
              <a:t>+ Sales,      $120000, $135000, Active    ← budget increased!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8114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ourier New"/>
              </a:defRPr>
            </a:pPr>
            <a:r>
              <a:t>  HR,         $90000,  $90000,  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4928616"/>
            <a:ext cx="8961120" cy="329184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92861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060"/>
                </a:solidFill>
                <a:latin typeface="Courier New"/>
              </a:defRPr>
            </a:pPr>
            <a:r>
              <a:t>- IT,         $175000, $175000, Pending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5276088"/>
            <a:ext cx="8961120" cy="329184"/>
          </a:xfrm>
          <a:prstGeom prst="rect">
            <a:avLst/>
          </a:prstGeom>
          <a:solidFill>
            <a:srgbClr val="104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276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FF60"/>
                </a:solidFill>
                <a:latin typeface="Courier New"/>
              </a:defRPr>
            </a:pPr>
            <a:r>
              <a:t>+ IT,         $175000, $175000, Active    ← status changed!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  <a:latin typeface="Calibri"/>
              </a:defRPr>
            </a:pPr>
            <a:r>
              <a:t>👉  Instantly see exactly what changed, who changed it, and when.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📊  But What About My Excel Files?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EACC7"/>
                </a:solidFill>
                <a:latin typeface="Calibri"/>
              </a:defRPr>
            </a:pPr>
            <a:r>
              <a:t>Excel is binary (can't see diffs). Solution: auto-convert to CSV!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754880" cy="4114800"/>
          </a:xfrm>
          <a:prstGeom prst="roundRect">
            <a:avLst/>
          </a:prstGeom>
          <a:solidFill>
            <a:srgbClr val="8B00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🚫  Before: Can't See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📄  budget.xlsx uploaded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💬  "Binary file changed"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🤷  No idea what's different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😒  "Just trust me, I updated it"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937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💢  Audit nightmare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029200" cy="4114800"/>
          </a:xfrm>
          <a:prstGeom prst="roundRect">
            <a:avLst/>
          </a:prstGeom>
          <a:solidFill>
            <a:srgbClr val="006B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✅  After: Full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📄  budget.xlsx + budget.csv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🔎  CSV shows every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🟢  Green = added, 🔴 Red = removed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🤝  Team approves in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🏆  Audit-ready automatically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577840" y="365760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700"/>
                </a:solidFill>
                <a:latin typeface="Calibri"/>
              </a:defRPr>
            </a:pPr>
            <a:r>
              <a:t>💡  A pre-commit hook auto-converts Excel to CSV. You never think about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🌳  Branches: Safe Experimentation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EACC7"/>
                </a:solidFill>
                <a:latin typeface="Calibri"/>
              </a:defRPr>
            </a:pPr>
            <a:r>
              <a:t>Make changes in a branch. Team reviews. Merge when approved.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0058400" cy="1371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A02C"/>
                </a:solidFill>
                <a:latin typeface="Calibri"/>
              </a:defRPr>
            </a:pPr>
            <a:r>
              <a:t>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286000"/>
            <a:ext cx="4572000" cy="109728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0E"/>
                </a:solidFill>
                <a:latin typeface="Calibri"/>
              </a:defRPr>
            </a:pPr>
            <a:r>
              <a:t>your-changes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063240"/>
            <a:ext cx="320040" cy="320040"/>
          </a:xfrm>
          <a:prstGeom prst="ellipse">
            <a:avLst/>
          </a:prstGeom>
          <a:solidFill>
            <a:srgbClr val="2CA02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0" y="3063240"/>
            <a:ext cx="320040" cy="320040"/>
          </a:xfrm>
          <a:prstGeom prst="ellipse">
            <a:avLst/>
          </a:prstGeom>
          <a:solidFill>
            <a:srgbClr val="2CA02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0" y="3063240"/>
            <a:ext cx="320040" cy="320040"/>
          </a:xfrm>
          <a:prstGeom prst="ellipse">
            <a:avLst/>
          </a:prstGeom>
          <a:solidFill>
            <a:srgbClr val="2CA02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0" y="3063240"/>
            <a:ext cx="320040" cy="320040"/>
          </a:xfrm>
          <a:prstGeom prst="ellipse">
            <a:avLst/>
          </a:prstGeom>
          <a:solidFill>
            <a:srgbClr val="2CA02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2148840"/>
            <a:ext cx="320040" cy="320040"/>
          </a:xfrm>
          <a:prstGeom prst="ellipse">
            <a:avLst/>
          </a:prstGeom>
          <a:solidFill>
            <a:srgbClr val="FF7F0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2148840"/>
            <a:ext cx="320040" cy="320040"/>
          </a:xfrm>
          <a:prstGeom prst="ellipse">
            <a:avLst/>
          </a:prstGeom>
          <a:solidFill>
            <a:srgbClr val="FF7F0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148840"/>
            <a:ext cx="320040" cy="320040"/>
          </a:xfrm>
          <a:prstGeom prst="ellipse">
            <a:avLst/>
          </a:prstGeom>
          <a:solidFill>
            <a:srgbClr val="FF7F0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840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7F0E"/>
                </a:solidFill>
                <a:latin typeface="Calibri"/>
              </a:defRPr>
            </a:pPr>
            <a:r>
              <a:t>🌱 Branch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7F0E"/>
                </a:solidFill>
                <a:latin typeface="Calibri"/>
              </a:defRPr>
            </a:pPr>
            <a:r>
              <a:t>📝 Edit, edit, 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67BD"/>
                </a:solidFill>
                <a:latin typeface="Calibri"/>
              </a:defRPr>
            </a:pPr>
            <a:r>
              <a:t>💬 Team reviews</a:t>
            </a:r>
            <a:br/>
            <a:r>
              <a:t>(Merge Request)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840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CA02C"/>
                </a:solidFill>
                <a:latin typeface="Calibri"/>
              </a:defRPr>
            </a:pPr>
            <a:r>
              <a:t>✅ Merge!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846320"/>
            <a:ext cx="9144000" cy="1645920"/>
          </a:xfrm>
          <a:prstGeom prst="roundRect">
            <a:avLst/>
          </a:prstGeom>
          <a:solidFill>
            <a:srgbClr val="1E497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🛡️  Safety Guardrails (set once, enforced forever):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🔒  No one can push directly to main — all changes go through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806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👫  Required approvers must sign off before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6126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🔄  If you change your code after approval, approvals reset automatically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🏛️  Why This Matters: Built-in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EACC7"/>
                </a:solidFill>
                <a:latin typeface="Calibri"/>
              </a:defRPr>
            </a:pPr>
            <a:r>
              <a:t>Everything the auditor needs is automatic. No extra paperwork.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560320" cy="4114800"/>
          </a:xfrm>
          <a:prstGeom prst="roundRect">
            <a:avLst/>
          </a:prstGeom>
          <a:solidFill>
            <a:srgbClr val="2CA02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Change Control</a:t>
            </a:r>
            <a:br/>
            <a:r>
              <a:t>(NIST CM-3)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Every change tracked</a:t>
            </a:r>
            <a:br/>
            <a:r>
              <a:t>with who, what, when,</a:t>
            </a:r>
            <a:br/>
            <a:r>
              <a:t>and 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560320" cy="4114800"/>
          </a:xfrm>
          <a:prstGeom prst="roundRect">
            <a:avLst/>
          </a:prstGeom>
          <a:solidFill>
            <a:srgbClr val="4A90C4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Separation of</a:t>
            </a:r>
            <a:br/>
            <a:r>
              <a:t>Duties (AC-5)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023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Author cannot approve</a:t>
            </a:r>
            <a:br/>
            <a:r>
              <a:t>their own changes.</a:t>
            </a:r>
            <a:br/>
            <a:r>
              <a:t>Systematically enforced.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2560320" cy="4114800"/>
          </a:xfrm>
          <a:prstGeom prst="roundRect">
            <a:avLst/>
          </a:prstGeom>
          <a:solidFill>
            <a:srgbClr val="FF7F0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Audit Trail</a:t>
            </a:r>
            <a:br/>
            <a:r>
              <a:t>(AU-3)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Complete, timestamped,</a:t>
            </a:r>
            <a:br/>
            <a:r>
              <a:t>tamper-evident history.</a:t>
            </a:r>
            <a:br/>
            <a:r>
              <a:t>No gaps possible.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560320" cy="4114800"/>
          </a:xfrm>
          <a:prstGeom prst="roundRect">
            <a:avLst/>
          </a:prstGeom>
          <a:solidFill>
            <a:srgbClr val="9467BD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Access Control</a:t>
            </a:r>
            <a:br/>
            <a:r>
              <a:t>(AC-6)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023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Least privilege.</a:t>
            </a:r>
            <a:br/>
            <a:r>
              <a:t>View-only for reviewers.</a:t>
            </a:r>
            <a:br/>
            <a:r>
              <a:t>Role-based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  <a:latin typeface="Calibri"/>
              </a:defRPr>
            </a:pPr>
            <a:r>
              <a:t>💡  The auditor opens a URL. Everything is there. Meeting over in 5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📊  What This Looks Like in Practice</a:t>
            </a:r>
          </a:p>
        </p:txBody>
      </p:sp>
      <p:pic>
        <p:nvPicPr>
          <p:cNvPr id="3" name="Picture 2" descr="rep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36223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  <a:latin typeface="Calibri"/>
              </a:defRPr>
            </a:pPr>
            <a:r>
              <a:t>636 commits across 7 repositories in 3 weeks. All tracked. All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EACC7"/>
                </a:solidFill>
                <a:latin typeface="Calibri"/>
              </a:defRPr>
            </a:pPr>
            <a:r>
              <a:t>One engineer + AI agents = this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📅  When Things Happened</a:t>
            </a:r>
          </a:p>
        </p:txBody>
      </p:sp>
      <p:pic>
        <p:nvPicPr>
          <p:cNvPr id="3" name="Picture 2" descr="ecosystem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7810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  <a:latin typeface="Calibri"/>
              </a:defRPr>
            </a:pPr>
            <a:r>
              <a:t>Each bar = one project's active development window. All running concurrently.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📈  Daily Commit Activity</a:t>
            </a:r>
          </a:p>
        </p:txBody>
      </p:sp>
      <p:pic>
        <p:nvPicPr>
          <p:cNvPr id="3" name="Picture 2" descr="daily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48524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  <a:latin typeface="Calibri"/>
              </a:defRPr>
            </a:pPr>
            <a:r>
              <a:t>Every bar = a day of tracked, auditable work. Colors = different projects.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🌌  The Whole Ecosystem, Visualized</a:t>
            </a:r>
          </a:p>
        </p:txBody>
      </p:sp>
      <p:pic>
        <p:nvPicPr>
          <p:cNvPr id="3" name="Picture 2" descr="gource-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Calibri"/>
              </a:defRPr>
            </a:pPr>
            <a:r>
              <a:t>636 commits. 7 repos. 34,000+ lines of code. 3 weeks. One engineer.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EACC7"/>
                </a:solidFill>
                <a:latin typeface="Calibri"/>
              </a:defRPr>
            </a:pPr>
            <a:r>
              <a:t>(We have a 40-second animated video of this too 🎬)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🚀  Getting Started: Your First 5 Minutes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898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📧  You'll get an email invitation to the GitLab/GitHub project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0756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🌐  Click the link — opens in your browser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614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📂  Browse files, click any file to see its contents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429000"/>
            <a:ext cx="502920" cy="502920"/>
          </a:xfrm>
          <a:prstGeom prst="ellipse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472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🕓  Click "History" to see every version ever saved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33087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🔍  Click any version to see exactly what changed (the diff)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800600"/>
            <a:ext cx="502920" cy="50292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8188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💬  Leave a comment if you have questions or concerns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486400"/>
            <a:ext cx="502920" cy="502920"/>
          </a:xfrm>
          <a:prstGeom prst="ellipse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5046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 Click "Approve" when you're satisfied with the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18320" cy="2743200"/>
          </a:xfrm>
          <a:prstGeom prst="roundRect">
            <a:avLst/>
          </a:prstGeom>
          <a:solidFill>
            <a:srgbClr val="1E497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🌟  You Already Know How to Do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EACC7"/>
                </a:solidFill>
                <a:latin typeface="Calibri"/>
              </a:defRPr>
            </a:pPr>
            <a:r>
              <a:t>If you can browse the web, you can review changes.</a:t>
            </a:r>
            <a:br/>
            <a:r>
              <a:t>If you can leave a comment, you can approve a release.</a:t>
            </a:r>
            <a:br/>
            <a:r>
              <a:t>If you can click a link, you have an audit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What used to require: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4114800" cy="1371600"/>
          </a:xfrm>
          <a:prstGeom prst="roundRect">
            <a:avLst/>
          </a:prstGeom>
          <a:solidFill>
            <a:srgbClr val="8B00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9377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❌  Spreadsheets of spreadsheets</a:t>
            </a:r>
            <a:br/>
            <a:r>
              <a:t>❌  Email chains of approvals</a:t>
            </a:r>
            <a:br/>
            <a:r>
              <a:t>❌  "Who has the latest version?"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521208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4846320"/>
            <a:ext cx="4114800" cy="1371600"/>
          </a:xfrm>
          <a:prstGeom prst="roundRect">
            <a:avLst/>
          </a:prstGeom>
          <a:solidFill>
            <a:srgbClr val="006B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49377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✅  One URL</a:t>
            </a:r>
            <a:br/>
            <a:r>
              <a:t>✅  Complete history</a:t>
            </a:r>
            <a:br/>
            <a:r>
              <a:t>✅  Built-in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Questions?  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